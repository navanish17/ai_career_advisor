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lus Jakarta Sans ExtraBold"/>
      <p:bold r:id="rId14"/>
      <p:boldItalic r:id="rId15"/>
    </p:embeddedFont>
    <p:embeddedFont>
      <p:font typeface="Inter SemiBold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Plus Jakarta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PlusJakartaSans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-italic.fntdata"/><Relationship Id="rId25" Type="http://schemas.openxmlformats.org/officeDocument/2006/relationships/font" Target="fonts/PlusJakartaSans-bold.fntdata"/><Relationship Id="rId27" Type="http://schemas.openxmlformats.org/officeDocument/2006/relationships/font" Target="fonts/PlusJakarta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lusJakartaSansExtraBold-boldItalic.fntdata"/><Relationship Id="rId14" Type="http://schemas.openxmlformats.org/officeDocument/2006/relationships/font" Target="fonts/PlusJakartaSansExtraBold-bold.fntdata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41.png"/><Relationship Id="rId13" Type="http://schemas.openxmlformats.org/officeDocument/2006/relationships/image" Target="../media/image19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Relationship Id="rId7" Type="http://schemas.openxmlformats.org/officeDocument/2006/relationships/image" Target="../media/image25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44.png"/><Relationship Id="rId11" Type="http://schemas.openxmlformats.org/officeDocument/2006/relationships/image" Target="../media/image30.png"/><Relationship Id="rId10" Type="http://schemas.openxmlformats.org/officeDocument/2006/relationships/image" Target="../media/image33.png"/><Relationship Id="rId21" Type="http://schemas.openxmlformats.org/officeDocument/2006/relationships/image" Target="../media/image26.png"/><Relationship Id="rId13" Type="http://schemas.openxmlformats.org/officeDocument/2006/relationships/image" Target="../media/image45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9" Type="http://schemas.openxmlformats.org/officeDocument/2006/relationships/image" Target="../media/image36.png"/><Relationship Id="rId15" Type="http://schemas.openxmlformats.org/officeDocument/2006/relationships/image" Target="../media/image31.png"/><Relationship Id="rId14" Type="http://schemas.openxmlformats.org/officeDocument/2006/relationships/image" Target="../media/image47.png"/><Relationship Id="rId17" Type="http://schemas.openxmlformats.org/officeDocument/2006/relationships/image" Target="../media/image27.png"/><Relationship Id="rId16" Type="http://schemas.openxmlformats.org/officeDocument/2006/relationships/image" Target="../media/image22.png"/><Relationship Id="rId5" Type="http://schemas.openxmlformats.org/officeDocument/2006/relationships/image" Target="../media/image23.png"/><Relationship Id="rId19" Type="http://schemas.openxmlformats.org/officeDocument/2006/relationships/image" Target="../media/image32.png"/><Relationship Id="rId6" Type="http://schemas.openxmlformats.org/officeDocument/2006/relationships/image" Target="../media/image20.png"/><Relationship Id="rId18" Type="http://schemas.openxmlformats.org/officeDocument/2006/relationships/image" Target="../media/image35.png"/><Relationship Id="rId7" Type="http://schemas.openxmlformats.org/officeDocument/2006/relationships/image" Target="../media/image21.png"/><Relationship Id="rId8" Type="http://schemas.openxmlformats.org/officeDocument/2006/relationships/image" Target="../media/image3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3.png"/><Relationship Id="rId4" Type="http://schemas.openxmlformats.org/officeDocument/2006/relationships/image" Target="../media/image34.png"/><Relationship Id="rId5" Type="http://schemas.openxmlformats.org/officeDocument/2006/relationships/image" Target="../media/image28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4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471987"/>
            <a:ext cx="8572500" cy="99625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1580257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PROJECT OVERVIEW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1980307"/>
            <a:ext cx="90011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AI CareerPilot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237607"/>
            <a:ext cx="85725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modern AI platform that guides students in choosing the right career, degree, top colleges, and jobs.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62025" y="4672012"/>
            <a:ext cx="81724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Developed By: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62025" y="4963417"/>
            <a:ext cx="817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Navanish Pandey &amp; Priyanshu Kumar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1837283"/>
            <a:ext cx="40386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1400" y="1837283"/>
            <a:ext cx="40386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104900" y="2251025"/>
            <a:ext cx="5715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clarity on career choices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04900" y="2852886"/>
            <a:ext cx="5715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Confusion in selecting stream &amp; degree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04900" y="3454747"/>
            <a:ext cx="5715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Scattered information about top colleges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04900" y="4056608"/>
            <a:ext cx="5715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Unclear job opportunities for specific education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04900" y="4658469"/>
            <a:ext cx="5715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Lack of awareness about scholarships &amp; deadlines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04900" y="5260330"/>
            <a:ext cx="5715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personalized step-by-step roadmap for careers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571500"/>
            <a:ext cx="11201400" cy="53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Problem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762000" y="1264890"/>
            <a:ext cx="10668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2891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89098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4928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09470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69656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29843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1837283"/>
            <a:ext cx="40386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1963489"/>
            <a:ext cx="5867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 Centralized AI System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1400" y="1837283"/>
            <a:ext cx="40386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104900" y="2614910"/>
            <a:ext cx="5524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Identifying interests &amp; strengths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104900" y="3216771"/>
            <a:ext cx="5524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Recommending suitable careers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104900" y="3818632"/>
            <a:ext cx="5524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Providing complete step-by-step career roadmaps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104900" y="4420492"/>
            <a:ext cx="5524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Suggesting best streams &amp; degrees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104900" y="5022353"/>
            <a:ext cx="5524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Showing nearby top colleges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104900" y="5624214"/>
            <a:ext cx="5524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Displaying scholarship &amp; admission timelines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571500"/>
            <a:ext cx="11201400" cy="53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 Solution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762000" y="1264890"/>
            <a:ext cx="10668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6530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25487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85673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4585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06045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662314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75445"/>
            <a:ext cx="51435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75445"/>
            <a:ext cx="51435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223170"/>
            <a:ext cx="51435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223170"/>
            <a:ext cx="51435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080420"/>
            <a:ext cx="51435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080420"/>
            <a:ext cx="51435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928145"/>
            <a:ext cx="51435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928145"/>
            <a:ext cx="51435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50879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250879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335652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335652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250" y="421377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81750" y="421377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7250" y="506149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81750" y="506149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1266825" y="2470695"/>
            <a:ext cx="20288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User Setup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Class, location, language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791325" y="2470695"/>
            <a:ext cx="28479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Path Selection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Quiz OR Interest OR Dream Career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1266825" y="3318420"/>
            <a:ext cx="28670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Recommendation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Best-fit careers with required skills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791325" y="3318420"/>
            <a:ext cx="3086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Roadmap Generation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Subjects → Degree → Exams → Skills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266825" y="4175670"/>
            <a:ext cx="26193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College Finder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Nearby top colleges with details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791325" y="4175670"/>
            <a:ext cx="1695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Scholarship Alerts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Eligibility &amp; deadlines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266825" y="5023395"/>
            <a:ext cx="20002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Job Insights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Top trending job options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791325" y="5023395"/>
            <a:ext cx="25050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Personal Dashboard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Saves progress &amp; notifications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762000" y="571500"/>
            <a:ext cx="11201400" cy="53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Workflow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762000" y="1264890"/>
            <a:ext cx="10668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67966"/>
            <a:ext cx="34035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4150" y="2067966"/>
            <a:ext cx="34035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6300" y="2067966"/>
            <a:ext cx="3403699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094708"/>
            <a:ext cx="34035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94150" y="4094708"/>
            <a:ext cx="34035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26300" y="4094708"/>
            <a:ext cx="3403699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" y="230609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1000125" y="2915691"/>
            <a:ext cx="232638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Career Recommendation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000125" y="3201441"/>
            <a:ext cx="2927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Matches user interest &amp; strengths to real-world careers.</a:t>
            </a:r>
            <a:endParaRPr/>
          </a:p>
        </p:txBody>
      </p:sp>
      <p:pic>
        <p:nvPicPr>
          <p:cNvPr descr="image.png" id="179" name="Google Shape;179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32275" y="230609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4632275" y="2915691"/>
            <a:ext cx="236842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Backward Career Planner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4632275" y="3201441"/>
            <a:ext cx="2927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Structured roadmap from Job → education → college.</a:t>
            </a:r>
            <a:endParaRPr/>
          </a:p>
        </p:txBody>
      </p:sp>
      <p:pic>
        <p:nvPicPr>
          <p:cNvPr descr="image.png" id="182" name="Google Shape;182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64425" y="230609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8264425" y="2915691"/>
            <a:ext cx="172834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College Finder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8264425" y="3201441"/>
            <a:ext cx="2927449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Shows top colleges (Govt+Private) with courses &amp; fees.</a:t>
            </a:r>
            <a:endParaRPr/>
          </a:p>
        </p:txBody>
      </p:sp>
      <p:pic>
        <p:nvPicPr>
          <p:cNvPr descr="image.png" id="185" name="Google Shape;185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0125" y="433283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/>
        </p:nvSpPr>
        <p:spPr>
          <a:xfrm>
            <a:off x="1000125" y="4942433"/>
            <a:ext cx="253437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 &amp; Degree Guidance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1000125" y="5228183"/>
            <a:ext cx="2667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Helps select the right academic path.</a:t>
            </a:r>
            <a:endParaRPr/>
          </a:p>
        </p:txBody>
      </p:sp>
      <p:pic>
        <p:nvPicPr>
          <p:cNvPr descr="image.png" id="188" name="Google Shape;188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32275" y="433283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4632275" y="4942433"/>
            <a:ext cx="166833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Scholarship Alerts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4632275" y="5228183"/>
            <a:ext cx="2927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Keeps students updated with admission timelines.</a:t>
            </a:r>
            <a:endParaRPr/>
          </a:p>
        </p:txBody>
      </p:sp>
      <p:pic>
        <p:nvPicPr>
          <p:cNvPr descr="image.png" id="191" name="Google Shape;191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264425" y="433283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/>
        </p:nvSpPr>
        <p:spPr>
          <a:xfrm>
            <a:off x="8264425" y="4942433"/>
            <a:ext cx="157222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Chat Assistant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8264425" y="5228183"/>
            <a:ext cx="2927449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Answers education &amp; career-related queries anytime.</a:t>
            </a:r>
            <a:endParaRPr/>
          </a:p>
        </p:txBody>
      </p:sp>
      <p:pic>
        <p:nvPicPr>
          <p:cNvPr descr="image.png" id="194" name="Google Shape;194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33475" y="2439441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765625" y="2439441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397775" y="2439441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09662" y="4466183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775150" y="446618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373963" y="4466183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 txBox="1"/>
          <p:nvPr/>
        </p:nvSpPr>
        <p:spPr>
          <a:xfrm>
            <a:off x="762000" y="571500"/>
            <a:ext cx="11201400" cy="53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Features</a:t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762000" y="1264890"/>
            <a:ext cx="10668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3462" y="5054798"/>
            <a:ext cx="5048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0384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/>
          <p:nvPr/>
        </p:nvSpPr>
        <p:spPr>
          <a:xfrm>
            <a:off x="1181100" y="1971823"/>
            <a:ext cx="4860607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Domain-Specific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1181100" y="2415629"/>
            <a:ext cx="46291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Focused entirely on student career guidance — not a general chatbot.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952500" y="3469034"/>
            <a:ext cx="5100637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Verified Data (RAG)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952500" y="3912840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Uses official government &amp; educational sources to lower hallucination.</a:t>
            </a:r>
            <a:endParaRPr/>
          </a:p>
        </p:txBody>
      </p:sp>
      <p:pic>
        <p:nvPicPr>
          <p:cNvPr descr="image.png" id="213" name="Google Shape;21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03292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/>
        </p:nvSpPr>
        <p:spPr>
          <a:xfrm>
            <a:off x="1152525" y="4966245"/>
            <a:ext cx="4240530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Roadmap Comparison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1152525" y="5410051"/>
            <a:ext cx="4038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Creates mind-map view for 2–4 saved roadmaps.</a:t>
            </a:r>
            <a:endParaRPr/>
          </a:p>
        </p:txBody>
      </p:sp>
      <p:pic>
        <p:nvPicPr>
          <p:cNvPr descr="image.png" id="216" name="Google Shape;21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221084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 txBox="1"/>
          <p:nvPr/>
        </p:nvSpPr>
        <p:spPr>
          <a:xfrm>
            <a:off x="6858000" y="2144166"/>
            <a:ext cx="4800600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Personalized Dashboard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6858000" y="2587972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Saves careers, colleges, and user progress systematically.</a:t>
            </a:r>
            <a:endParaRPr/>
          </a:p>
        </p:txBody>
      </p:sp>
      <p:pic>
        <p:nvPicPr>
          <p:cNvPr descr="image.png" id="219" name="Google Shape;21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370805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6772275" y="3641377"/>
            <a:ext cx="4420552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Notification System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6772275" y="4085183"/>
            <a:ext cx="4210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Sends admission &amp; scholarship alerts automatically.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762000" y="571500"/>
            <a:ext cx="11201400" cy="53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Different from ChatGPT?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762000" y="1264890"/>
            <a:ext cx="10668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1837283"/>
            <a:ext cx="40386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1400" y="1837283"/>
            <a:ext cx="40386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762000" y="1689050"/>
            <a:ext cx="298037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Frontend</a:t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762000" y="2014686"/>
            <a:ext cx="2838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3981450" y="1689050"/>
            <a:ext cx="298037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Backend</a:t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3981450" y="2014686"/>
            <a:ext cx="2838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762000" y="3892748"/>
            <a:ext cx="298037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Layer</a:t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762000" y="4218384"/>
            <a:ext cx="2838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3981450" y="3892748"/>
            <a:ext cx="298037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 &amp; Services</a:t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3981450" y="4218384"/>
            <a:ext cx="2838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762000" y="2167086"/>
            <a:ext cx="2838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React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762000" y="2608957"/>
            <a:ext cx="2838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Dynamic dashboards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762000" y="3050827"/>
            <a:ext cx="2838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Geolocation-based map view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3981450" y="2167086"/>
            <a:ext cx="2838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FastAPI (Python)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3981450" y="2608957"/>
            <a:ext cx="2838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Modular API architecture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3981450" y="3050827"/>
            <a:ext cx="2838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Authentication &amp; user services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762000" y="4370784"/>
            <a:ext cx="2838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Machine Learning &amp; LLM Engine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762000" y="4995564"/>
            <a:ext cx="2838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RAG (Retrieval-Augmented Generation)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762000" y="5620345"/>
            <a:ext cx="2838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Vector DB (Chroma/FAISS)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3981450" y="4370784"/>
            <a:ext cx="2838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3981450" y="4812655"/>
            <a:ext cx="2838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Email Notification (SendGrid)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762000" y="571500"/>
            <a:ext cx="11201400" cy="53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Architecture</a:t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762000" y="1264890"/>
            <a:ext cx="10668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 txBox="1"/>
          <p:nvPr/>
        </p:nvSpPr>
        <p:spPr>
          <a:xfrm>
            <a:off x="495300" y="2356544"/>
            <a:ext cx="11201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Thank You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762000" y="3899594"/>
            <a:ext cx="10668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Open for Questions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